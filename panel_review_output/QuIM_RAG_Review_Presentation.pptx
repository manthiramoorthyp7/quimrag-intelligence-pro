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B4D8"/>
                </a:solidFill>
                <a:latin typeface="Calibri"/>
              </a:rPr>
              <a:t>FINAL-YEAR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An Evidence-Adaptive, OCR-Resilient Hybrid Retrieval
Framework for Document Question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Extending QuIM-RAG (Saha et al., IEEE Access, 2024) with a calibrated
retrieval-sufficiency decision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Manthira Moorthy P   ·   Vijay S K   ·   IV ECE-A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Mentor: Dr. V. Karthikeyan, AP (Sl. Grade)  ·  Dept. of ECE, Mepco Schlenk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Document Question Answering,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1F2430"/>
                </a:solidFill>
                <a:latin typeface="Calibri"/>
              </a:rPr>
              <a:t>•  </a:t>
            </a:r>
            <a:r>
              <a:rPr sz="1450">
                <a:solidFill>
                  <a:srgbClr val="1F2430"/>
                </a:solidFill>
                <a:latin typeface="Calibri"/>
              </a:rPr>
              <a:t>Lets users retrieve precise answers from large document collections using natural-language queries.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1F2430"/>
                </a:solidFill>
                <a:latin typeface="Calibri"/>
              </a:rPr>
              <a:t>•  </a:t>
            </a:r>
            <a:r>
              <a:rPr sz="1450">
                <a:solidFill>
                  <a:srgbClr val="1F2430"/>
                </a:solidFill>
                <a:latin typeface="Calibri"/>
              </a:rPr>
              <a:t>Used across healthcare, legal, finance, education, government archives, insurance and research.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1F2430"/>
                </a:solidFill>
                <a:latin typeface="Calibri"/>
              </a:rPr>
              <a:t>•  </a:t>
            </a:r>
            <a:r>
              <a:rPr sz="1450">
                <a:solidFill>
                  <a:srgbClr val="1F2430"/>
                </a:solidFill>
                <a:latin typeface="Calibri"/>
              </a:rPr>
              <a:t>Growth of scanned PDFs and digitised records is driving demand for intelligent document understanding.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REAL-WORLD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6596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B85042"/>
                </a:solidFill>
                <a:latin typeface="Calibri"/>
              </a:rPr>
              <a:t>•  </a:t>
            </a:r>
            <a:r>
              <a:rPr sz="1350">
                <a:solidFill>
                  <a:srgbClr val="1F2430"/>
                </a:solidFill>
                <a:latin typeface="Calibri"/>
              </a:rPr>
              <a:t>Most enterprise documents exist as scanned PDFs or images, requiring OCR before processing.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B85042"/>
                </a:solidFill>
                <a:latin typeface="Calibri"/>
              </a:rPr>
              <a:t>•  </a:t>
            </a:r>
            <a:r>
              <a:rPr sz="1350">
                <a:solidFill>
                  <a:srgbClr val="1F2430"/>
                </a:solidFill>
                <a:latin typeface="Calibri"/>
              </a:rPr>
              <a:t>OCR frequently introduces: character errors, broken text, layout and table-extraction distortion.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B85042"/>
                </a:solidFill>
                <a:latin typeface="Calibri"/>
              </a:rPr>
              <a:t>•  </a:t>
            </a:r>
            <a:r>
              <a:rPr sz="1350">
                <a:solidFill>
                  <a:srgbClr val="1F2430"/>
                </a:solidFill>
                <a:latin typeface="Calibri"/>
              </a:rPr>
              <a:t>These errors propagate through retrieval, causing wrong document selection and hallucinated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Where today's RAG systems fall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" cy="13716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Information dilution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Fixed-size chunking breaks semantic continuity.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82296" cy="13716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OCR fragility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4767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Recognition noise degrades retrieval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82296" cy="13716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Semantic compression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Basic K-Means quantisation discards fine detail.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260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82296" cy="13716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063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Poor multi-hop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5643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Flat chunk retrieval misses chapter/section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34840"/>
            <a:ext cx="82296" cy="13716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Weak exact-term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6519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Dense embeddings miss IDs, codes, acronyms.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4348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434840"/>
            <a:ext cx="82296" cy="13716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720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No self-awareness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96519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Every system answers regardless of retrieval confidence.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REVIEW 2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Seven proposed upgrades to QuIM-RAG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1790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Calibri"/>
              </a:rPr>
              <a:t>OCR robustness layer for noisy scanned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8483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3969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Calibri"/>
              </a:rPr>
              <a:t>Semantic chunking to preserve complete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066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6148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Calibri"/>
              </a:rPr>
              <a:t>Hierarchical question-tree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284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832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Calibri"/>
              </a:rPr>
              <a:t>Residual Vector Quantisation (RVQ) for compact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502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502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2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Calibri"/>
              </a:rPr>
              <a:t>Query rewriting for better intent understanding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2686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Calibri"/>
              </a:rPr>
              <a:t>Hybrid retrieval: Dense + BM25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9379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24865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Calibri"/>
              </a:rPr>
              <a:t>Cross-encoder reranking before answer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All seven were delivered and measured — see slide 8 for the one item the proposal itself did not anticipate.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3/23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Five studies that shaped the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56716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14813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4813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Our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8048" y="14813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Gap it leaves 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1156716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20"/>
            <a:ext cx="2286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QuIM-RAG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Saha, Saha &amp; Malik, IEEE Access,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892808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F2430"/>
                </a:solidFill>
                <a:latin typeface="Calibri"/>
              </a:rPr>
              <a:t>Question-to-question matching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892808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Motivated this project's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1892808"/>
            <a:ext cx="25146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85042"/>
                </a:solidFill>
                <a:latin typeface="Calibri"/>
              </a:rPr>
              <a:t>No OCR, no hierarchy, no abstention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11567160" cy="896112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70632"/>
            <a:ext cx="2286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Embedding Quality in RAG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Amaral Cejas, Guo &amp; Tang,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788920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F2430"/>
                </a:solidFill>
                <a:latin typeface="Calibri"/>
              </a:rPr>
              <a:t>Embedding choice shifts retrieval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788920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Motivated this project's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788920"/>
            <a:ext cx="25146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85042"/>
                </a:solidFill>
                <a:latin typeface="Calibri"/>
              </a:rPr>
              <a:t>No OCR, no hierarchical indexing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93592"/>
            <a:ext cx="1156716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666744"/>
            <a:ext cx="2286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EvaRAG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Elkiran &amp; Rasheed, IEEE Access,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3685032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F2430"/>
                </a:solidFill>
                <a:latin typeface="Calibri"/>
              </a:rPr>
              <a:t>Indexing + similarity-metric benchmarking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685032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Motivated this project's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3685032"/>
            <a:ext cx="25146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85042"/>
                </a:solidFill>
                <a:latin typeface="Calibri"/>
              </a:rPr>
              <a:t>No OCR robustness, no question indexing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9704"/>
            <a:ext cx="11567160" cy="896112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62856"/>
            <a:ext cx="2286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Retriever/Reranker Evaluation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Elkiran &amp; Rasheed, IEEE Access,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4581144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F2430"/>
                </a:solidFill>
                <a:latin typeface="Calibri"/>
              </a:rPr>
              <a:t>Reranking has the largest QA-quality 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581144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Motivated this project's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4581144"/>
            <a:ext cx="25146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85042"/>
                </a:solidFill>
                <a:latin typeface="Calibri"/>
              </a:rPr>
              <a:t>No OCR-aware preprocessing, no RVQ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85816"/>
            <a:ext cx="1156716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458968"/>
            <a:ext cx="2286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Max–Min Semantic Chunking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761"/>
                </a:solidFill>
                <a:latin typeface="Calibri"/>
              </a:rPr>
              <a:t>Kiss, Nagy &amp; Szilagyi,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5477256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F2430"/>
                </a:solidFill>
                <a:latin typeface="Calibri"/>
              </a:rPr>
              <a:t>Clustering-based chunking beats fixed-size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5477256"/>
            <a:ext cx="30175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Motivated this project's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5477256"/>
            <a:ext cx="25146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85042"/>
                </a:solidFill>
                <a:latin typeface="Calibri"/>
              </a:rPr>
              <a:t>Chunking only, no full RAG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4/23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What the project set out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1F2430"/>
                </a:solidFill>
                <a:latin typeface="Calibri"/>
              </a:rPr>
              <a:t>•  </a:t>
            </a:r>
            <a:r>
              <a:rPr sz="1600">
                <a:solidFill>
                  <a:srgbClr val="1F2430"/>
                </a:solidFill>
                <a:latin typeface="Calibri"/>
              </a:rPr>
              <a:t>Enhance retrieval accuracy via hierarchical question indexing, hybrid retrieval and cross-encoder reranking.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1F2430"/>
                </a:solidFill>
                <a:latin typeface="Calibri"/>
              </a:rPr>
              <a:t>•  </a:t>
            </a:r>
            <a:r>
              <a:rPr sz="1600">
                <a:solidFill>
                  <a:srgbClr val="1F2430"/>
                </a:solidFill>
                <a:latin typeface="Calibri"/>
              </a:rPr>
              <a:t>Develop an OCR-robust framework that corrects noisy scanned documents before indexing.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1F2430"/>
                </a:solidFill>
                <a:latin typeface="Calibri"/>
              </a:rPr>
              <a:t>•  </a:t>
            </a:r>
            <a:r>
              <a:rPr sz="1600">
                <a:solidFill>
                  <a:srgbClr val="1F2430"/>
                </a:solidFill>
                <a:latin typeface="Calibri"/>
              </a:rPr>
              <a:t>Reduce hallucinations by preserving semantic context and giving the LLM complete, relevant evidence.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1F2430"/>
                </a:solidFill>
                <a:latin typeface="Calibri"/>
              </a:rPr>
              <a:t>•  </a:t>
            </a:r>
            <a:r>
              <a:rPr sz="1600">
                <a:solidFill>
                  <a:srgbClr val="1F2430"/>
                </a:solidFill>
                <a:latin typeface="Calibri"/>
              </a:rPr>
              <a:t>Enable fast, scalable retrieval using Residual Vector Quantisation and multi-level inverted indexing.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1F2430"/>
                </a:solidFill>
                <a:latin typeface="Calibri"/>
              </a:rPr>
              <a:t>•  </a:t>
            </a:r>
            <a:r>
              <a:rPr sz="1600">
                <a:solidFill>
                  <a:srgbClr val="1F2430"/>
                </a:solidFill>
                <a:latin typeface="Calibri"/>
              </a:rPr>
              <a:t>Preserve semantic information by minimising quantisation error and chunk-boundary information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5/23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End-to-end architecture</a:t>
            </a:r>
          </a:p>
        </p:txBody>
      </p:sp>
      <p:pic>
        <p:nvPicPr>
          <p:cNvPr id="4" name="Picture 3" descr="fig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784" y="1280160"/>
            <a:ext cx="6957391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6/23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B4D8"/>
                </a:solidFill>
                <a:latin typeface="Calibri"/>
              </a:rPr>
              <a:t>BEYOND 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None of the seven upgrades answer one question: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1">
                <a:solidFill>
                  <a:srgbClr val="00B4D8"/>
                </a:solidFill>
                <a:latin typeface="Calibri"/>
              </a:rPr>
              <a:t>“Should this system trust its own retrieval enough to answer at all?”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332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•  </a:t>
            </a:r>
            <a:r>
              <a:rPr sz="1600">
                <a:solidFill>
                  <a:srgbClr val="FFFFFF"/>
                </a:solidFill>
                <a:latin typeface="Calibri"/>
              </a:rPr>
              <a:t>Every RAG system studied — including QuIM-RAG itself — retrieves passages and always answers.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•  </a:t>
            </a:r>
            <a:r>
              <a:rPr sz="1600">
                <a:solidFill>
                  <a:srgbClr val="FFFFFF"/>
                </a:solidFill>
                <a:latin typeface="Calibri"/>
              </a:rPr>
              <a:t>Wrong retrieval, garbled OCR, or contradictory evidence: the system never notices.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•  </a:t>
            </a:r>
            <a:r>
              <a:rPr sz="1600">
                <a:solidFill>
                  <a:srgbClr val="FFFFFF"/>
                </a:solidFill>
                <a:latin typeface="Calibri"/>
              </a:rPr>
              <a:t>This project's actual new contribution: Evidence-Adaptive Retrieval and Verification (EAR) — a calibrated decision layer that lets the system answer, pull more evidence, flag a conflict, or abstain.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7/23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THE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EAR: four signals, computed almost for free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F2430"/>
                </a:solidFill>
                <a:latin typeface="Calibri"/>
              </a:rPr>
              <a:t>Do dense search and BM25 agree on the top results?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2 EXTRA RETRIEVE()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46304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93592" y="1691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91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77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OCR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834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F2430"/>
                </a:solidFill>
                <a:latin typeface="Calibri"/>
              </a:rPr>
              <a:t>Mean Tesseract per-word confidence of the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840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FREE — CACHED AT INGESTION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46304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9944" y="1691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691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77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Contradiction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834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F2430"/>
                </a:solidFill>
                <a:latin typeface="Calibri"/>
              </a:rPr>
              <a:t>Do passages share a topic but report different numbers?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40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CHEAP REGEX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46304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26296" y="1691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1691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377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2834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F2430"/>
                </a:solidFill>
                <a:latin typeface="Calibri"/>
              </a:rPr>
              <a:t>Is this a short query or a long, multi-part one?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3840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FREE — LENGTH HEURISTIC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E2761"/>
                </a:solidFill>
                <a:latin typeface="Calibri"/>
              </a:rPr>
              <a:t>p  =  σ( w₀ + w₁·agreement + w₂·ocr_confidence + w₃·contradiction + w₄·complexity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1">
                <a:solidFill>
                  <a:srgbClr val="6B7280"/>
                </a:solidFill>
                <a:latin typeface="Calibri"/>
              </a:rPr>
              <a:t>Weights fit by logistic regression on held-out calibration data — never on the data results are reported against.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8/23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THE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From sufficiency score to decision</a:t>
            </a:r>
          </a:p>
        </p:txBody>
      </p:sp>
      <p:pic>
        <p:nvPicPr>
          <p:cNvPr id="4" name="Picture 3" descr="fig_ear_deci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720" y="1234440"/>
            <a:ext cx="682752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9/23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Two orders of magnitude cheaper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91640"/>
            <a:ext cx="29626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E8E5A"/>
                </a:solidFill>
                <a:latin typeface="Calibri"/>
              </a:rPr>
              <a:t>~95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82112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EAR'S FULL DECISION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19456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6B7280"/>
                </a:solidFill>
                <a:latin typeface="Calibri"/>
              </a:rPr>
              <a:t>vs.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1691640"/>
            <a:ext cx="29626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B85042"/>
                </a:solidFill>
                <a:latin typeface="Calibri"/>
              </a:rPr>
              <a:t>10.6–15.1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3182112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AN LLM-JUDGE ALTERNATIVE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554480"/>
            <a:ext cx="3017520" cy="2011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6916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110–160×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517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FASTER FOR A COMPARABLE TRUST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1064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1F2430"/>
                </a:solidFill>
                <a:latin typeface="Calibri"/>
              </a:rPr>
              <a:t>•  </a:t>
            </a:r>
            <a:r>
              <a:rPr sz="1450">
                <a:solidFill>
                  <a:srgbClr val="1F2430"/>
                </a:solidFill>
                <a:latin typeface="Calibri"/>
              </a:rPr>
              <a:t>Both measured on identical hardware, for the same category of decision: “should I trust this evidence?”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1F2430"/>
                </a:solidFill>
                <a:latin typeface="Calibri"/>
              </a:rPr>
              <a:t>•  </a:t>
            </a:r>
            <a:r>
              <a:rPr sz="1450">
                <a:solidFill>
                  <a:srgbClr val="1F2430"/>
                </a:solidFill>
                <a:latin typeface="Calibri"/>
              </a:rPr>
              <a:t>Gating generation on EAR's decision still produces a measured faithfulness improvement (next slide) — the speed is not traded against quality.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10/23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Retrieval configuration comparison</a:t>
            </a:r>
          </a:p>
        </p:txBody>
      </p:sp>
      <p:pic>
        <p:nvPicPr>
          <p:cNvPr id="4" name="Picture 3" descr="fig_baseline_retriev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188720"/>
            <a:ext cx="77724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150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B7280"/>
                </a:solidFill>
                <a:latin typeface="Calibri"/>
              </a:rPr>
              <a:t>Honest finding: real BM25 alone (nDCG@5 = 0.528) outperforms the fused hybrid (0.515) on this benchmark — exact keyword matching beats semantic similarity more often than expected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11/23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EAR raises accuracy where it chooses to answer</a:t>
            </a:r>
          </a:p>
        </p:txBody>
      </p:sp>
      <p:pic>
        <p:nvPicPr>
          <p:cNvPr id="4" name="Picture 3" descr="fig_ear_selectiv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762" y="1188720"/>
            <a:ext cx="6440556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57784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715000"/>
            <a:ext cx="32369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E8E5A"/>
                </a:solidFill>
                <a:latin typeface="Calibri"/>
              </a:rPr>
              <a:t>71.2% → 78.3%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199632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MAIN BENCHMARK (N=252)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57784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5715000"/>
            <a:ext cx="32369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E8E5A"/>
                </a:solidFill>
                <a:latin typeface="Calibri"/>
              </a:rPr>
              <a:t>84.3% → 96.0%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6199632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INDEPENDENT 2ND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557784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5715000"/>
            <a:ext cx="32369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B85042"/>
                </a:solidFill>
                <a:latin typeface="Calibri"/>
              </a:rPr>
              <a:t>49.0%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6199632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ACCURACY ON ABSTAINED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12/23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RAGAS evaluation on real generated answers</a:t>
            </a:r>
          </a:p>
        </p:txBody>
      </p:sp>
      <p:pic>
        <p:nvPicPr>
          <p:cNvPr id="4" name="Picture 3" descr="fig_ragas_faithful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53" y="1188720"/>
            <a:ext cx="7156173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B7280"/>
                </a:solidFill>
                <a:latin typeface="Calibri"/>
              </a:rPr>
              <a:t>60-query sample, local llama3.2 judge via Ollama — no paid API key required or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13/23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Residual Vector Quantisation: an honest trade-off</a:t>
            </a:r>
          </a:p>
        </p:txBody>
      </p:sp>
      <p:pic>
        <p:nvPicPr>
          <p:cNvPr id="4" name="Picture 3" descr="fig_rvq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40" y="1188720"/>
            <a:ext cx="70104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150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B7280"/>
                </a:solidFill>
                <a:latin typeface="Calibri"/>
              </a:rPr>
              <a:t>No tested configuration fully closes the recall gap. Root-caused statistically (Welch's t = −4.71, p = 3.5×10⁻⁶); a candidate fix recovers 79% of lost recall at no added latency.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14/23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Research Command Center — running application</a:t>
            </a:r>
          </a:p>
        </p:txBody>
      </p:sp>
      <p:pic>
        <p:nvPicPr>
          <p:cNvPr id="4" name="Picture 3" descr="screenshot_command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80467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15/23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Ablation Lab — every number read from logged runs</a:t>
            </a:r>
          </a:p>
        </p:txBody>
      </p:sp>
      <p:pic>
        <p:nvPicPr>
          <p:cNvPr id="4" name="Picture 3" descr="screenshot_ablation_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80467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16/23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Research Gaps &amp; Validation — four studies, tracked live</a:t>
            </a:r>
          </a:p>
        </p:txBody>
      </p:sp>
      <p:pic>
        <p:nvPicPr>
          <p:cNvPr id="4" name="Picture 3" descr="screenshot_research_gaps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4540"/>
            <a:ext cx="5486400" cy="3429000"/>
          </a:xfrm>
          <a:prstGeom prst="rect">
            <a:avLst/>
          </a:prstGeom>
        </p:spPr>
      </p:pic>
      <p:pic>
        <p:nvPicPr>
          <p:cNvPr id="5" name="Picture 4" descr="screenshot_research_gaps_b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34540"/>
            <a:ext cx="54864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17/23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Status since the Review 2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8778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0" y="1417320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Literature survey &amp; problem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417320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8E5A"/>
                </a:solidFill>
                <a:latin typeface="Calibri"/>
              </a:rPr>
              <a:t>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92808"/>
            <a:ext cx="877824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0" y="1892808"/>
            <a:ext cx="228600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92808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Dataset: OHR-Bench (public benchmark adopted in place of unavailable private corpus)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892808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8E5A"/>
                </a:solidFill>
                <a:latin typeface="Calibri"/>
              </a:rPr>
              <a:t>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68296"/>
            <a:ext cx="8778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0" y="2368296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68296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OCR ingestion, chunking, hybrid retrieval, reranking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368296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8E5A"/>
                </a:solidFill>
                <a:latin typeface="Calibri"/>
              </a:rPr>
              <a:t>Completed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43784"/>
            <a:ext cx="877824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2843784"/>
            <a:ext cx="228600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4378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Residual Vector Quantisation + root-cause analysis +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843784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8E5A"/>
                </a:solidFill>
                <a:latin typeface="Calibri"/>
              </a:rPr>
              <a:t>Completed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19272"/>
            <a:ext cx="8778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3319272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19272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Hierarchical question tree (rule-based)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319272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8E5A"/>
                </a:solidFill>
                <a:latin typeface="Calibri"/>
              </a:rPr>
              <a:t>Completed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877824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3794760"/>
            <a:ext cx="228600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94760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Evidence-Adaptive Retrieval &amp; Verification (new, beyond proposal)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794760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8E5A"/>
                </a:solidFill>
                <a:latin typeface="Calibri"/>
              </a:rPr>
              <a:t>Completed, validated twice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70248"/>
            <a:ext cx="8778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0" y="4270248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70248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RAGAS evaluation on real generated answers (local LLM judge)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270248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8E5A"/>
                </a:solidFill>
                <a:latin typeface="Calibri"/>
              </a:rPr>
              <a:t>Completed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45736"/>
            <a:ext cx="877824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26880" y="4745736"/>
            <a:ext cx="228600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745736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67-test automated suite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745736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E8E5A"/>
                </a:solidFill>
                <a:latin typeface="Calibri"/>
              </a:rPr>
              <a:t>Completed, 0 failures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21224"/>
            <a:ext cx="8778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26880" y="5221224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2122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OCR-confidence signal validated on genuinely noisy (non-synthetic) scans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221224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B85042"/>
                </a:solidFill>
                <a:latin typeface="Calibri"/>
              </a:rPr>
              <a:t>Open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696712"/>
            <a:ext cx="877824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26880" y="5696712"/>
            <a:ext cx="228600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96712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430"/>
                </a:solidFill>
                <a:latin typeface="Calibri"/>
              </a:rPr>
              <a:t>Cloud-scale RAGAS judge model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696712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B85042"/>
                </a:solidFill>
                <a:latin typeface="Calibri"/>
              </a:rPr>
              <a:t>Open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18/23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ACADEMIC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What is not being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•  </a:t>
            </a:r>
            <a:r>
              <a:rPr sz="1500">
                <a:solidFill>
                  <a:srgbClr val="1F2430"/>
                </a:solidFill>
                <a:latin typeface="Calibri"/>
              </a:rPr>
              <a:t>Not a reproduction of QuIM-RAG's published numbers — their NDSU dataset is private; a substitute-data attempt did not replicate their reported advantage, with a stated hypothesis why.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•  </a:t>
            </a:r>
            <a:r>
              <a:rPr sz="1500">
                <a:solidFill>
                  <a:srgbClr val="1F2430"/>
                </a:solidFill>
                <a:latin typeface="Calibri"/>
              </a:rPr>
              <a:t>OCR-confidence signal validated in isolation (r = −0.984 vs. real character error rate) but not yet on genuinely noisy real-world scans, only controlled synthetic degradation.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•  </a:t>
            </a:r>
            <a:r>
              <a:rPr sz="1500">
                <a:solidFill>
                  <a:srgbClr val="1F2430"/>
                </a:solidFill>
                <a:latin typeface="Calibri"/>
              </a:rPr>
              <a:t>RAGAS numbers use a local 3.2B-parameter judge model — directionally informative, not a calibrated probability against a cloud-scale judge.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•  </a:t>
            </a:r>
            <a:r>
              <a:rPr sz="1500">
                <a:solidFill>
                  <a:srgbClr val="1F2430"/>
                </a:solidFill>
                <a:latin typeface="Calibri"/>
              </a:rPr>
              <a:t>“Confidence-gated RAG abstention” is an active 2026 research area; EAR's specific four-signal design is a real contribution within it, not a claim of inventing the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19/23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SOCIAL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Where OCR-resilient, evidence-aware retrieval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270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1F2430"/>
                </a:solidFill>
                <a:latin typeface="Calibri"/>
              </a:rPr>
              <a:t>30 years of scanned patient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OCR resilience + hierarchical patient→visit→diagnosis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270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1F2430"/>
                </a:solidFill>
                <a:latin typeface="Calibri"/>
              </a:rPr>
              <a:t>M&amp;A due diligence, 10,000+ scanned agreements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58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BM25 finds exact clause numbers; citations trace every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98648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08376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Banking &amp; Insurance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5584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1F2430"/>
                </a:solidFill>
                <a:latin typeface="Calibri"/>
              </a:rPr>
              <a:t>KYC documents, scanned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39896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Exact-ID retrieval + semantic policy understanding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98648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08376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5584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1F2430"/>
                </a:solidFill>
                <a:latin typeface="Calibri"/>
              </a:rPr>
              <a:t>100,000 scanned theses, searchable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39896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Hierarchical thesis→chapter→section navigation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79976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89704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Government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3717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1F2430"/>
                </a:solidFill>
                <a:latin typeface="Calibri"/>
              </a:rPr>
              <a:t>RTI response automation from aging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21224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OCR robustness + cited, accountable answers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379976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89704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3717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1F2430"/>
                </a:solidFill>
                <a:latin typeface="Calibri"/>
              </a:rPr>
              <a:t>20 years of scanned minutes and memos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221224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Hybrid retrieval: exact codes (BM25) + concepts (dense)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20/23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B4D8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F2430"/>
                </a:solidFill>
                <a:latin typeface="Calibri"/>
              </a:rPr>
              <a:t>Primary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•  </a:t>
            </a:r>
            <a:r>
              <a:rPr sz="1200">
                <a:solidFill>
                  <a:srgbClr val="1F2430"/>
                </a:solidFill>
                <a:latin typeface="Calibri"/>
              </a:rPr>
              <a:t>[1] B. Saha, U. Saha, M. Z. Malik, "QuIM-RAG: Advancing RAG With Inverted Question Matching," IEEE Access, vol. 12, pp. 185401–185410, 2024.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•  </a:t>
            </a:r>
            <a:r>
              <a:rPr sz="1200">
                <a:solidFill>
                  <a:srgbClr val="1F2430"/>
                </a:solidFill>
                <a:latin typeface="Calibri"/>
              </a:rPr>
              <a:t>[2] J. Zhang et al., "OCR Hinders RAG: Evaluating the Cascading Impact of OCR on RAG" (OHR-Bench), ICCV 2025, arXiv:2412.02592.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•  </a:t>
            </a:r>
            <a:r>
              <a:rPr sz="1200">
                <a:solidFill>
                  <a:srgbClr val="1F2430"/>
                </a:solidFill>
                <a:latin typeface="Calibri"/>
              </a:rPr>
              <a:t>[3] P. Sarthi et al., "RAPTOR: Recursive Abstractive Processing for Tree-Organised Retrieval," ICLR 2024.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•  </a:t>
            </a:r>
            <a:r>
              <a:rPr sz="1200">
                <a:solidFill>
                  <a:srgbClr val="1F2430"/>
                </a:solidFill>
                <a:latin typeface="Calibri"/>
              </a:rPr>
              <a:t>[4] H. Jégou, M. Douze, C. Schmid, "Product Quantization for Nearest Neighbor Search," IEEE TPAMI, vol. 33, no. 1, 2011.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•  </a:t>
            </a:r>
            <a:r>
              <a:rPr sz="1200">
                <a:solidFill>
                  <a:srgbClr val="1F2430"/>
                </a:solidFill>
                <a:latin typeface="Calibri"/>
              </a:rPr>
              <a:t>[5] S. Robertson, H. Zaragoza, "The Probabilistic Relevance Framework: BM25 and Beyond," Found. Trends Inf. Retr., vol. 3, no. 4, 2009.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•  </a:t>
            </a:r>
            <a:r>
              <a:rPr sz="1200">
                <a:solidFill>
                  <a:srgbClr val="1F2430"/>
                </a:solidFill>
                <a:latin typeface="Calibri"/>
              </a:rPr>
              <a:t>[6] O. Amaral Cejas, Y. Guo, Q. Tang, "Tracing the Impact of Embedding Quality in RAG Systems," IEEE Access, 2025.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•  </a:t>
            </a:r>
            <a:r>
              <a:rPr sz="1200">
                <a:solidFill>
                  <a:srgbClr val="1F2430"/>
                </a:solidFill>
                <a:latin typeface="Calibri"/>
              </a:rPr>
              <a:t>[7] H. Elkiran, J. Rasheed, "EvaRAG: Evaluating Advanced RAG Techniques With Indexing and Distance Metrics," IEEE Access, 2025.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•  </a:t>
            </a:r>
            <a:r>
              <a:rPr sz="1200">
                <a:solidFill>
                  <a:srgbClr val="1F2430"/>
                </a:solidFill>
                <a:latin typeface="Calibri"/>
              </a:rPr>
              <a:t>[8] C. Kiss, M. Nagy, P. Szilágyi, "Max–Min Semantic Chunking of Documents for RAG," Discover Computing,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QuIM-RAG / EAR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21/23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Questions and discussion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Manthira Moorthy P · Vijay S K · Mentor: Dr. V. Karthikeyan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